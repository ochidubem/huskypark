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0" r:id="rId3"/>
    <p:sldId id="257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A4B4C5-8123-0239-E2FC-B222E8CD06F1}" v="751" dt="2026-02-18T19:19:08.452"/>
    <p1510:client id="{66312D07-F44C-0B99-BEBA-76454DD41D45}" v="16" dt="2026-02-19T03:12:05.330"/>
    <p1510:client id="{9288EC1E-977A-9CDB-64FF-7FB0F7FDAE3C}" v="28" dt="2026-02-18T16:11:17.961"/>
    <p1510:client id="{D0FE493C-9870-396F-93ED-7A18EA7AE38F}" v="104" dt="2026-02-18T17:06:07.644"/>
    <p1510:client id="{D2F3BAC3-800F-B3B1-9F34-A84510FCA728}" v="165" dt="2026-02-18T16:48:04.184"/>
    <p1510:client id="{DE5545C6-B6FF-E3C4-D309-507CA6E0B16C}" v="1" dt="2026-02-18T16:13:28.196"/>
    <p1510:client id="{E1F66273-B4C9-6FCC-F78F-CB2D46E626A3}" v="9" dt="2026-02-19T01:54:37.3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4699F1-E405-4672-897B-E3D308BD550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A9C1394-9431-4E13-9B90-CA97117B94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Problem : Parking on campus</a:t>
          </a:r>
        </a:p>
      </dgm:t>
    </dgm:pt>
    <dgm:pt modelId="{F27372FB-F557-4975-BBBE-9E1E3EC0199C}" type="parTrans" cxnId="{07C92FA6-214E-4D98-BCCD-1A30FAEE9FD3}">
      <dgm:prSet/>
      <dgm:spPr/>
      <dgm:t>
        <a:bodyPr/>
        <a:lstStyle/>
        <a:p>
          <a:endParaRPr lang="en-US"/>
        </a:p>
      </dgm:t>
    </dgm:pt>
    <dgm:pt modelId="{D742DC39-38EA-48BB-A355-02FBC3B92597}" type="sibTrans" cxnId="{07C92FA6-214E-4D98-BCCD-1A30FAEE9FD3}">
      <dgm:prSet/>
      <dgm:spPr/>
      <dgm:t>
        <a:bodyPr/>
        <a:lstStyle/>
        <a:p>
          <a:endParaRPr lang="en-US"/>
        </a:p>
      </dgm:t>
    </dgm:pt>
    <dgm:pt modelId="{6C6E81A0-7324-49CF-90C3-812FB4F183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Solution : HuskyPark Predictor</a:t>
          </a:r>
        </a:p>
      </dgm:t>
    </dgm:pt>
    <dgm:pt modelId="{98601FB6-7F8E-4F8A-A61B-43EA54F0D73A}" type="parTrans" cxnId="{5E066C01-370C-4BBB-9398-9C27F4BE0AB5}">
      <dgm:prSet/>
      <dgm:spPr/>
      <dgm:t>
        <a:bodyPr/>
        <a:lstStyle/>
        <a:p>
          <a:endParaRPr lang="en-US"/>
        </a:p>
      </dgm:t>
    </dgm:pt>
    <dgm:pt modelId="{C825B67D-50C4-4B9F-B92F-86C958E31265}" type="sibTrans" cxnId="{5E066C01-370C-4BBB-9398-9C27F4BE0AB5}">
      <dgm:prSet/>
      <dgm:spPr/>
      <dgm:t>
        <a:bodyPr/>
        <a:lstStyle/>
        <a:p>
          <a:endParaRPr lang="en-US"/>
        </a:p>
      </dgm:t>
    </dgm:pt>
    <dgm:pt modelId="{1C778AAF-7D37-4771-8AD2-8BAF77AAB1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Who benefits ?</a:t>
          </a:r>
        </a:p>
      </dgm:t>
    </dgm:pt>
    <dgm:pt modelId="{AFC99320-EA6F-43A4-B938-B13310219574}" type="parTrans" cxnId="{B7F60A13-3D47-409C-80A2-B56DDEF13C36}">
      <dgm:prSet/>
      <dgm:spPr/>
      <dgm:t>
        <a:bodyPr/>
        <a:lstStyle/>
        <a:p>
          <a:endParaRPr lang="en-US"/>
        </a:p>
      </dgm:t>
    </dgm:pt>
    <dgm:pt modelId="{CAD155AB-6429-468B-A4F0-75DC744EADAA}" type="sibTrans" cxnId="{B7F60A13-3D47-409C-80A2-B56DDEF13C36}">
      <dgm:prSet/>
      <dgm:spPr/>
      <dgm:t>
        <a:bodyPr/>
        <a:lstStyle/>
        <a:p>
          <a:endParaRPr lang="en-US"/>
        </a:p>
      </dgm:t>
    </dgm:pt>
    <dgm:pt modelId="{EA0B0D07-52F8-4B76-B91F-D59DC3E7B80B}" type="pres">
      <dgm:prSet presAssocID="{644699F1-E405-4672-897B-E3D308BD550A}" presName="root" presStyleCnt="0">
        <dgm:presLayoutVars>
          <dgm:dir/>
          <dgm:resizeHandles val="exact"/>
        </dgm:presLayoutVars>
      </dgm:prSet>
      <dgm:spPr/>
    </dgm:pt>
    <dgm:pt modelId="{2D7B9E66-3444-43E4-AC6F-3E89AA7DFA00}" type="pres">
      <dgm:prSet presAssocID="{BA9C1394-9431-4E13-9B90-CA97117B9476}" presName="compNode" presStyleCnt="0"/>
      <dgm:spPr/>
    </dgm:pt>
    <dgm:pt modelId="{2672DC27-3ED6-444F-9E1F-1B5FDB16AB95}" type="pres">
      <dgm:prSet presAssocID="{BA9C1394-9431-4E13-9B90-CA97117B947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C1F9944A-33D5-456A-B4A5-50FEC4E17678}" type="pres">
      <dgm:prSet presAssocID="{BA9C1394-9431-4E13-9B90-CA97117B9476}" presName="spaceRect" presStyleCnt="0"/>
      <dgm:spPr/>
    </dgm:pt>
    <dgm:pt modelId="{44A1F2AB-EA54-49B9-BFD2-9815183EC09E}" type="pres">
      <dgm:prSet presAssocID="{BA9C1394-9431-4E13-9B90-CA97117B9476}" presName="textRect" presStyleLbl="revTx" presStyleIdx="0" presStyleCnt="3">
        <dgm:presLayoutVars>
          <dgm:chMax val="1"/>
          <dgm:chPref val="1"/>
        </dgm:presLayoutVars>
      </dgm:prSet>
      <dgm:spPr/>
    </dgm:pt>
    <dgm:pt modelId="{733BF73E-8B8E-4491-984C-7C8C25BEB413}" type="pres">
      <dgm:prSet presAssocID="{D742DC39-38EA-48BB-A355-02FBC3B92597}" presName="sibTrans" presStyleCnt="0"/>
      <dgm:spPr/>
    </dgm:pt>
    <dgm:pt modelId="{82A6C45B-6988-49CF-B835-C1BE798076FA}" type="pres">
      <dgm:prSet presAssocID="{6C6E81A0-7324-49CF-90C3-812FB4F1830F}" presName="compNode" presStyleCnt="0"/>
      <dgm:spPr/>
    </dgm:pt>
    <dgm:pt modelId="{687B7ED3-104E-4731-90FA-454FBA624448}" type="pres">
      <dgm:prSet presAssocID="{6C6E81A0-7324-49CF-90C3-812FB4F1830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67D5F984-8BE7-4959-A6B4-E08FB858C0D8}" type="pres">
      <dgm:prSet presAssocID="{6C6E81A0-7324-49CF-90C3-812FB4F1830F}" presName="spaceRect" presStyleCnt="0"/>
      <dgm:spPr/>
    </dgm:pt>
    <dgm:pt modelId="{B051E4B9-4B8F-4F5D-8C83-2631A9B1B019}" type="pres">
      <dgm:prSet presAssocID="{6C6E81A0-7324-49CF-90C3-812FB4F1830F}" presName="textRect" presStyleLbl="revTx" presStyleIdx="1" presStyleCnt="3">
        <dgm:presLayoutVars>
          <dgm:chMax val="1"/>
          <dgm:chPref val="1"/>
        </dgm:presLayoutVars>
      </dgm:prSet>
      <dgm:spPr/>
    </dgm:pt>
    <dgm:pt modelId="{4C07A674-DC4B-4DC4-95C6-2EE11697A1C5}" type="pres">
      <dgm:prSet presAssocID="{C825B67D-50C4-4B9F-B92F-86C958E31265}" presName="sibTrans" presStyleCnt="0"/>
      <dgm:spPr/>
    </dgm:pt>
    <dgm:pt modelId="{C7B5D88F-0E14-4BF2-8937-304BC321327D}" type="pres">
      <dgm:prSet presAssocID="{1C778AAF-7D37-4771-8AD2-8BAF77AAB11C}" presName="compNode" presStyleCnt="0"/>
      <dgm:spPr/>
    </dgm:pt>
    <dgm:pt modelId="{A6814A3B-1818-406B-88C8-2AA789C2DAEB}" type="pres">
      <dgm:prSet presAssocID="{1C778AAF-7D37-4771-8AD2-8BAF77AAB11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45EE22A-6A40-4A28-9AE4-4DCBA91DED86}" type="pres">
      <dgm:prSet presAssocID="{1C778AAF-7D37-4771-8AD2-8BAF77AAB11C}" presName="spaceRect" presStyleCnt="0"/>
      <dgm:spPr/>
    </dgm:pt>
    <dgm:pt modelId="{CD4EAD5F-0F19-480A-BF04-E16326B3B7D7}" type="pres">
      <dgm:prSet presAssocID="{1C778AAF-7D37-4771-8AD2-8BAF77AAB11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E066C01-370C-4BBB-9398-9C27F4BE0AB5}" srcId="{644699F1-E405-4672-897B-E3D308BD550A}" destId="{6C6E81A0-7324-49CF-90C3-812FB4F1830F}" srcOrd="1" destOrd="0" parTransId="{98601FB6-7F8E-4F8A-A61B-43EA54F0D73A}" sibTransId="{C825B67D-50C4-4B9F-B92F-86C958E31265}"/>
    <dgm:cxn modelId="{4FE88304-B649-41D9-954C-8D02B828174C}" type="presOf" srcId="{6C6E81A0-7324-49CF-90C3-812FB4F1830F}" destId="{B051E4B9-4B8F-4F5D-8C83-2631A9B1B019}" srcOrd="0" destOrd="0" presId="urn:microsoft.com/office/officeart/2018/2/layout/IconLabelList"/>
    <dgm:cxn modelId="{B7F60A13-3D47-409C-80A2-B56DDEF13C36}" srcId="{644699F1-E405-4672-897B-E3D308BD550A}" destId="{1C778AAF-7D37-4771-8AD2-8BAF77AAB11C}" srcOrd="2" destOrd="0" parTransId="{AFC99320-EA6F-43A4-B938-B13310219574}" sibTransId="{CAD155AB-6429-468B-A4F0-75DC744EADAA}"/>
    <dgm:cxn modelId="{90BC709D-2422-40BE-B744-9D0692C31137}" type="presOf" srcId="{1C778AAF-7D37-4771-8AD2-8BAF77AAB11C}" destId="{CD4EAD5F-0F19-480A-BF04-E16326B3B7D7}" srcOrd="0" destOrd="0" presId="urn:microsoft.com/office/officeart/2018/2/layout/IconLabelList"/>
    <dgm:cxn modelId="{07C92FA6-214E-4D98-BCCD-1A30FAEE9FD3}" srcId="{644699F1-E405-4672-897B-E3D308BD550A}" destId="{BA9C1394-9431-4E13-9B90-CA97117B9476}" srcOrd="0" destOrd="0" parTransId="{F27372FB-F557-4975-BBBE-9E1E3EC0199C}" sibTransId="{D742DC39-38EA-48BB-A355-02FBC3B92597}"/>
    <dgm:cxn modelId="{9B7644F0-9BBD-4BEE-BBBB-FAEAA7433A08}" type="presOf" srcId="{644699F1-E405-4672-897B-E3D308BD550A}" destId="{EA0B0D07-52F8-4B76-B91F-D59DC3E7B80B}" srcOrd="0" destOrd="0" presId="urn:microsoft.com/office/officeart/2018/2/layout/IconLabelList"/>
    <dgm:cxn modelId="{FDFA76F0-B474-45E0-9B22-5BCF38D7C08B}" type="presOf" srcId="{BA9C1394-9431-4E13-9B90-CA97117B9476}" destId="{44A1F2AB-EA54-49B9-BFD2-9815183EC09E}" srcOrd="0" destOrd="0" presId="urn:microsoft.com/office/officeart/2018/2/layout/IconLabelList"/>
    <dgm:cxn modelId="{7ACF09D5-16B1-43C0-AC8C-4DD408AA74EF}" type="presParOf" srcId="{EA0B0D07-52F8-4B76-B91F-D59DC3E7B80B}" destId="{2D7B9E66-3444-43E4-AC6F-3E89AA7DFA00}" srcOrd="0" destOrd="0" presId="urn:microsoft.com/office/officeart/2018/2/layout/IconLabelList"/>
    <dgm:cxn modelId="{04FECA09-FCDB-4EEF-A03C-C2C639C411B3}" type="presParOf" srcId="{2D7B9E66-3444-43E4-AC6F-3E89AA7DFA00}" destId="{2672DC27-3ED6-444F-9E1F-1B5FDB16AB95}" srcOrd="0" destOrd="0" presId="urn:microsoft.com/office/officeart/2018/2/layout/IconLabelList"/>
    <dgm:cxn modelId="{15E715E4-6DF3-473E-B879-83CDEE182E6C}" type="presParOf" srcId="{2D7B9E66-3444-43E4-AC6F-3E89AA7DFA00}" destId="{C1F9944A-33D5-456A-B4A5-50FEC4E17678}" srcOrd="1" destOrd="0" presId="urn:microsoft.com/office/officeart/2018/2/layout/IconLabelList"/>
    <dgm:cxn modelId="{47979C1F-BBE4-4154-8BCC-2AE314A86FC5}" type="presParOf" srcId="{2D7B9E66-3444-43E4-AC6F-3E89AA7DFA00}" destId="{44A1F2AB-EA54-49B9-BFD2-9815183EC09E}" srcOrd="2" destOrd="0" presId="urn:microsoft.com/office/officeart/2018/2/layout/IconLabelList"/>
    <dgm:cxn modelId="{F47E7B48-4ED3-4036-8FF7-C5A6698A10EA}" type="presParOf" srcId="{EA0B0D07-52F8-4B76-B91F-D59DC3E7B80B}" destId="{733BF73E-8B8E-4491-984C-7C8C25BEB413}" srcOrd="1" destOrd="0" presId="urn:microsoft.com/office/officeart/2018/2/layout/IconLabelList"/>
    <dgm:cxn modelId="{02058E96-B2AF-421B-99CB-2732668819F0}" type="presParOf" srcId="{EA0B0D07-52F8-4B76-B91F-D59DC3E7B80B}" destId="{82A6C45B-6988-49CF-B835-C1BE798076FA}" srcOrd="2" destOrd="0" presId="urn:microsoft.com/office/officeart/2018/2/layout/IconLabelList"/>
    <dgm:cxn modelId="{8582A4D4-BB91-48B2-B935-F392A66C6073}" type="presParOf" srcId="{82A6C45B-6988-49CF-B835-C1BE798076FA}" destId="{687B7ED3-104E-4731-90FA-454FBA624448}" srcOrd="0" destOrd="0" presId="urn:microsoft.com/office/officeart/2018/2/layout/IconLabelList"/>
    <dgm:cxn modelId="{E27E6B00-F37D-40E5-9DA0-465A5356304A}" type="presParOf" srcId="{82A6C45B-6988-49CF-B835-C1BE798076FA}" destId="{67D5F984-8BE7-4959-A6B4-E08FB858C0D8}" srcOrd="1" destOrd="0" presId="urn:microsoft.com/office/officeart/2018/2/layout/IconLabelList"/>
    <dgm:cxn modelId="{D7A0D8F3-931D-42FB-BC2C-F7D6E4884F95}" type="presParOf" srcId="{82A6C45B-6988-49CF-B835-C1BE798076FA}" destId="{B051E4B9-4B8F-4F5D-8C83-2631A9B1B019}" srcOrd="2" destOrd="0" presId="urn:microsoft.com/office/officeart/2018/2/layout/IconLabelList"/>
    <dgm:cxn modelId="{E9E3FFA4-D32E-4398-9519-7401BEC7429C}" type="presParOf" srcId="{EA0B0D07-52F8-4B76-B91F-D59DC3E7B80B}" destId="{4C07A674-DC4B-4DC4-95C6-2EE11697A1C5}" srcOrd="3" destOrd="0" presId="urn:microsoft.com/office/officeart/2018/2/layout/IconLabelList"/>
    <dgm:cxn modelId="{B4F0D9D1-3975-427F-B921-072E7350B9B4}" type="presParOf" srcId="{EA0B0D07-52F8-4B76-B91F-D59DC3E7B80B}" destId="{C7B5D88F-0E14-4BF2-8937-304BC321327D}" srcOrd="4" destOrd="0" presId="urn:microsoft.com/office/officeart/2018/2/layout/IconLabelList"/>
    <dgm:cxn modelId="{1466413C-4707-407F-BF2B-F2DFC5FC6211}" type="presParOf" srcId="{C7B5D88F-0E14-4BF2-8937-304BC321327D}" destId="{A6814A3B-1818-406B-88C8-2AA789C2DAEB}" srcOrd="0" destOrd="0" presId="urn:microsoft.com/office/officeart/2018/2/layout/IconLabelList"/>
    <dgm:cxn modelId="{ABFD4774-BBA6-43AE-AB9B-F768CDF31FC6}" type="presParOf" srcId="{C7B5D88F-0E14-4BF2-8937-304BC321327D}" destId="{845EE22A-6A40-4A28-9AE4-4DCBA91DED86}" srcOrd="1" destOrd="0" presId="urn:microsoft.com/office/officeart/2018/2/layout/IconLabelList"/>
    <dgm:cxn modelId="{9C6A3DBA-2E3E-4310-B41C-6F83C9FEC360}" type="presParOf" srcId="{C7B5D88F-0E14-4BF2-8937-304BC321327D}" destId="{CD4EAD5F-0F19-480A-BF04-E16326B3B7D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72DC27-3ED6-444F-9E1F-1B5FDB16AB95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A1F2AB-EA54-49B9-BFD2-9815183EC09E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Problem : Parking on campus</a:t>
          </a:r>
        </a:p>
      </dsp:txBody>
      <dsp:txXfrm>
        <a:off x="59990" y="2654049"/>
        <a:ext cx="3226223" cy="720000"/>
      </dsp:txXfrm>
    </dsp:sp>
    <dsp:sp modelId="{687B7ED3-104E-4731-90FA-454FBA624448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51E4B9-4B8F-4F5D-8C83-2631A9B1B019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Solution : HuskyPark Predictor</a:t>
          </a:r>
        </a:p>
      </dsp:txBody>
      <dsp:txXfrm>
        <a:off x="3850802" y="2654049"/>
        <a:ext cx="3226223" cy="720000"/>
      </dsp:txXfrm>
    </dsp:sp>
    <dsp:sp modelId="{A6814A3B-1818-406B-88C8-2AA789C2DAEB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4EAD5F-0F19-480A-BF04-E16326B3B7D7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Who benefits ?</a:t>
          </a:r>
        </a:p>
      </dsp:txBody>
      <dsp:txXfrm>
        <a:off x="7641615" y="2654049"/>
        <a:ext cx="322622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group of people rowing on a river&#10;&#10;AI-generated content may be incorrect.">
            <a:extLst>
              <a:ext uri="{FF2B5EF4-FFF2-40B4-BE49-F238E27FC236}">
                <a16:creationId xmlns:a16="http://schemas.microsoft.com/office/drawing/2014/main" id="{6D26B3B9-2844-4110-02C5-64B27FD8AC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CF2F999-93C9-39A1-47C4-7FEA8A016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7189"/>
            <a:ext cx="5155263" cy="5571899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latin typeface="Times New Roman Bold"/>
                <a:cs typeface="Times New Roman Bold"/>
              </a:rPr>
              <a:t>Course: CSCI 414/514 - Platform-Based Development 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DC5B1B-2CDC-23C8-15EF-6F1B7F96C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375" y="557189"/>
            <a:ext cx="5158424" cy="55718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endParaRPr lang="en-US" sz="2000" b="1">
              <a:solidFill>
                <a:srgbClr val="FFFFFF"/>
              </a:solidFill>
              <a:latin typeface="Times New Roman Bold"/>
              <a:cs typeface="Times New Roman Bold"/>
            </a:endParaRPr>
          </a:p>
          <a:p>
            <a:pPr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Times New Roman Bold"/>
              <a:cs typeface="Times New Roman Bold"/>
            </a:endParaRPr>
          </a:p>
          <a:p>
            <a:pPr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Times New Roman Bold"/>
                <a:cs typeface="Times New Roman Bold"/>
              </a:rPr>
              <a:t>Members: CHIDUBEM OKOYE, Yvonne </a:t>
            </a:r>
            <a:r>
              <a:rPr lang="en-US" sz="2000" b="1" err="1">
                <a:solidFill>
                  <a:srgbClr val="FFFFFF"/>
                </a:solidFill>
                <a:latin typeface="Times New Roman Bold"/>
                <a:cs typeface="Times New Roman Bold"/>
              </a:rPr>
              <a:t>Onmakpo</a:t>
            </a:r>
            <a:r>
              <a:rPr lang="en-US" sz="2000" b="1">
                <a:solidFill>
                  <a:srgbClr val="FFFFFF"/>
                </a:solidFill>
                <a:latin typeface="Times New Roman Bold"/>
                <a:cs typeface="Times New Roman Bold"/>
              </a:rPr>
              <a:t>, Tonika Devi </a:t>
            </a:r>
            <a:r>
              <a:rPr lang="en-US" sz="2000" b="1" err="1">
                <a:solidFill>
                  <a:srgbClr val="FFFFFF"/>
                </a:solidFill>
                <a:latin typeface="Times New Roman Bold"/>
                <a:cs typeface="Times New Roman Bold"/>
              </a:rPr>
              <a:t>Avanigadda</a:t>
            </a:r>
            <a:endParaRPr lang="en-US" sz="2000" err="1">
              <a:solidFill>
                <a:srgbClr val="FFFFFF"/>
              </a:solidFill>
              <a:latin typeface="Times New Roman Bold"/>
              <a:cs typeface="Times New Roman Bold"/>
            </a:endParaRPr>
          </a:p>
          <a:p>
            <a:pPr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Times New Roman Bold"/>
              <a:cs typeface="Times New Roman Bold"/>
            </a:endParaRPr>
          </a:p>
          <a:p>
            <a:pPr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Times New Roman Bold"/>
              <a:cs typeface="Times New Roman Bold"/>
            </a:endParaRPr>
          </a:p>
          <a:p>
            <a:pPr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Times New Roman Bold"/>
              <a:cs typeface="Times New Roman Bold"/>
            </a:endParaRPr>
          </a:p>
          <a:p>
            <a:pPr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Times New Roman Bold"/>
                <a:cs typeface="Times New Roman Bold"/>
              </a:rPr>
              <a:t>Project Title: </a:t>
            </a:r>
            <a:r>
              <a:rPr lang="en-US" sz="2000" b="1" err="1">
                <a:solidFill>
                  <a:srgbClr val="FFFFFF"/>
                </a:solidFill>
                <a:latin typeface="Times New Roman Bold"/>
                <a:cs typeface="Times New Roman Bold"/>
              </a:rPr>
              <a:t>HuskyPark</a:t>
            </a:r>
            <a:r>
              <a:rPr lang="en-US" sz="2000" b="1">
                <a:solidFill>
                  <a:srgbClr val="FFFFFF"/>
                </a:solidFill>
                <a:latin typeface="Times New Roman Bold"/>
                <a:cs typeface="Times New Roman Bold"/>
              </a:rPr>
              <a:t> Predictor: AI-Driven Parking Spot Probability Dashboard for SCSU</a:t>
            </a:r>
            <a:endParaRPr lang="en-US" sz="2000">
              <a:solidFill>
                <a:srgbClr val="FFFFFF"/>
              </a:solidFill>
              <a:latin typeface="Times New Roman Bold"/>
              <a:cs typeface="Times New Roman Bold"/>
            </a:endParaRPr>
          </a:p>
          <a:p>
            <a:pPr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Times New Roman Bold"/>
              <a:cs typeface="Times New Roman Bold"/>
            </a:endParaRPr>
          </a:p>
          <a:p>
            <a:pPr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Aptos Display"/>
            </a:endParaRPr>
          </a:p>
          <a:p>
            <a:endParaRPr lang="en-US" sz="2000">
              <a:solidFill>
                <a:srgbClr val="FFFFFF"/>
              </a:solidFill>
            </a:endParaRPr>
          </a:p>
          <a:p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192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2D47B2-FFCC-5A36-64D9-521B433B2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55B29A-6B5F-FD5D-E3F5-2424FCF9B8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382538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308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6" name="Rectangle 475">
            <a:extLst>
              <a:ext uri="{FF2B5EF4-FFF2-40B4-BE49-F238E27FC236}">
                <a16:creationId xmlns:a16="http://schemas.microsoft.com/office/drawing/2014/main" id="{330D6772-5550-42D5-B8BC-CDE283656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97DB0DD1-0F30-4B7E-A6DC-3DDA7D5B3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8" name="Picture 477" descr="Cars in the parking lot">
            <a:extLst>
              <a:ext uri="{FF2B5EF4-FFF2-40B4-BE49-F238E27FC236}">
                <a16:creationId xmlns:a16="http://schemas.microsoft.com/office/drawing/2014/main" id="{3E98A097-0106-2DB3-C7ED-E8AF864F21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543" r="-2" b="-2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100" name="Title 99">
            <a:extLst>
              <a:ext uri="{FF2B5EF4-FFF2-40B4-BE49-F238E27FC236}">
                <a16:creationId xmlns:a16="http://schemas.microsoft.com/office/drawing/2014/main" id="{704F5F62-2A52-33CB-D1EB-269C3C24B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71569"/>
            <a:ext cx="4155825" cy="4072044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Overview (Parking on Campus)</a:t>
            </a:r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79" name="Content Placeholder 100">
            <a:extLst>
              <a:ext uri="{FF2B5EF4-FFF2-40B4-BE49-F238E27FC236}">
                <a16:creationId xmlns:a16="http://schemas.microsoft.com/office/drawing/2014/main" id="{CC55C3DF-A82C-8B2B-2B69-7BBF883A8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1" y="1053732"/>
            <a:ext cx="6167248" cy="468988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FFFFFF"/>
                </a:solidFill>
                <a:latin typeface="Times New Roman Regular"/>
                <a:ea typeface="Calibri"/>
                <a:cs typeface="Calibri"/>
              </a:rPr>
              <a:t>Parking at SCSU is inefficient and stressful</a:t>
            </a:r>
            <a:endParaRPr lang="en-US" sz="2400">
              <a:solidFill>
                <a:srgbClr val="FFFFFF"/>
              </a:solidFill>
              <a:latin typeface="Times New Roman Regular"/>
            </a:endParaRPr>
          </a:p>
          <a:p>
            <a:r>
              <a:rPr lang="en-US" sz="2400">
                <a:solidFill>
                  <a:srgbClr val="FFFFFF"/>
                </a:solidFill>
                <a:latin typeface="Times New Roman Regular"/>
                <a:ea typeface="Calibri"/>
                <a:cs typeface="Calibri"/>
              </a:rPr>
              <a:t>Students &amp; staff waste time circling for parking</a:t>
            </a:r>
            <a:endParaRPr lang="en-US" sz="2400">
              <a:solidFill>
                <a:srgbClr val="FFFFFF"/>
              </a:solidFill>
              <a:latin typeface="Times New Roman Regular"/>
            </a:endParaRPr>
          </a:p>
          <a:p>
            <a:r>
              <a:rPr lang="en-US" sz="2400">
                <a:solidFill>
                  <a:srgbClr val="FFFFFF"/>
                </a:solidFill>
                <a:latin typeface="Times New Roman Regular"/>
                <a:ea typeface="Calibri"/>
                <a:cs typeface="Calibri"/>
              </a:rPr>
              <a:t>Peak hours = high demand, limited spots</a:t>
            </a:r>
            <a:endParaRPr lang="en-US" sz="2400">
              <a:solidFill>
                <a:srgbClr val="FFFFFF"/>
              </a:solidFill>
              <a:latin typeface="Times New Roman Regular"/>
            </a:endParaRPr>
          </a:p>
          <a:p>
            <a:r>
              <a:rPr lang="en-US" sz="2400">
                <a:solidFill>
                  <a:srgbClr val="FFFFFF"/>
                </a:solidFill>
                <a:latin typeface="Times New Roman Regular"/>
                <a:ea typeface="Calibri"/>
                <a:cs typeface="Calibri"/>
              </a:rPr>
              <a:t>Parking is fragmented across many lots (resident, commuter, employee, visitor)</a:t>
            </a:r>
            <a:endParaRPr lang="en-US" sz="2400">
              <a:solidFill>
                <a:srgbClr val="FFFFFF"/>
              </a:solidFill>
              <a:latin typeface="Times New Roman Regular"/>
            </a:endParaRPr>
          </a:p>
          <a:p>
            <a:r>
              <a:rPr lang="en-US" sz="2400">
                <a:solidFill>
                  <a:srgbClr val="FFFFFF"/>
                </a:solidFill>
                <a:latin typeface="Times New Roman Regular"/>
                <a:ea typeface="Calibri"/>
                <a:cs typeface="Calibri"/>
              </a:rPr>
              <a:t>External factors affect availability: Class schedules, Campus events, Minnesota weather</a:t>
            </a:r>
            <a:endParaRPr lang="en-US" sz="2400">
              <a:solidFill>
                <a:srgbClr val="FFFFFF"/>
              </a:solidFill>
              <a:latin typeface="Times New Roman Regular"/>
            </a:endParaRPr>
          </a:p>
          <a:p>
            <a:r>
              <a:rPr lang="en-US" sz="2400">
                <a:solidFill>
                  <a:srgbClr val="FFFFFF"/>
                </a:solidFill>
                <a:latin typeface="Times New Roman Regular"/>
                <a:ea typeface="Calibri"/>
                <a:cs typeface="Calibri"/>
              </a:rPr>
              <a:t>Impact: Late arrivals, Increased stress, Extra traffic &amp; emissions</a:t>
            </a:r>
            <a:endParaRPr lang="en-US" sz="2400">
              <a:solidFill>
                <a:srgbClr val="FFFFFF"/>
              </a:solidFill>
              <a:latin typeface="Times New Roman Regular"/>
            </a:endParaRPr>
          </a:p>
          <a:p>
            <a:endParaRPr lang="en-US" sz="2400">
              <a:solidFill>
                <a:srgbClr val="FFFFFF"/>
              </a:solidFill>
              <a:latin typeface="Times New Roman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095437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4" name="Picture 403" descr="Financial graphs on a dark display">
            <a:extLst>
              <a:ext uri="{FF2B5EF4-FFF2-40B4-BE49-F238E27FC236}">
                <a16:creationId xmlns:a16="http://schemas.microsoft.com/office/drawing/2014/main" id="{5D820944-6D50-E3ED-8851-2341810BD1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10000" r="-2" b="-2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45794F-AB2E-AA65-CD77-BEDE3FD97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Solution:</a:t>
            </a:r>
            <a:r>
              <a:rPr lang="en-US" sz="2800">
                <a:solidFill>
                  <a:srgbClr val="FFFFFF"/>
                </a:solidFill>
                <a:latin typeface="Aptos Display"/>
                <a:ea typeface="Calibri"/>
                <a:cs typeface="Calibri"/>
              </a:rPr>
              <a:t> 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HuskyPark Predictor – Web Dashboard</a:t>
            </a:r>
            <a:endParaRPr lang="en-US" sz="2800">
              <a:solidFill>
                <a:srgbClr val="FFFFFF"/>
              </a:solidFill>
            </a:endParaRPr>
          </a:p>
          <a:p>
            <a:endParaRPr lang="en-US" sz="2800">
              <a:solidFill>
                <a:srgbClr val="FFFFFF"/>
              </a:solidFill>
            </a:endParaRPr>
          </a:p>
        </p:txBody>
      </p:sp>
      <p:sp>
        <p:nvSpPr>
          <p:cNvPr id="410" name="Arc 40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5D482-3DD8-57BF-6EE1-1D5CA56DB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A. Predicts probability of finding parking by:</a:t>
            </a:r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Lots</a:t>
            </a:r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Time of day</a:t>
            </a:r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Day of week</a:t>
            </a:r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Events &amp; weather</a:t>
            </a:r>
            <a:endParaRPr lang="en-US" sz="1800" dirty="0">
              <a:solidFill>
                <a:srgbClr val="FFFFFF"/>
              </a:solidFill>
            </a:endParaRPr>
          </a:p>
          <a:p>
            <a:endParaRPr lang="en-US" sz="18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B. Uses:</a:t>
            </a:r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Historical patterns</a:t>
            </a:r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Optional crowdsourced reports</a:t>
            </a:r>
            <a:endParaRPr lang="en-US" sz="1800" dirty="0">
              <a:solidFill>
                <a:srgbClr val="FFFFFF"/>
              </a:solidFill>
            </a:endParaRPr>
          </a:p>
          <a:p>
            <a:endParaRPr lang="en-US" sz="1800">
              <a:solidFill>
                <a:srgbClr val="FFFFFF"/>
              </a:solidFill>
            </a:endParaRPr>
          </a:p>
          <a:p>
            <a:endParaRPr lang="en-US" sz="18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C. Provides:</a:t>
            </a:r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Best lot suggestions</a:t>
            </a:r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Visual heatmaps</a:t>
            </a:r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Real time probability estimates</a:t>
            </a:r>
            <a:endParaRPr lang="en-US" sz="1800" dirty="0">
              <a:solidFill>
                <a:srgbClr val="FFFFFF"/>
              </a:solidFill>
            </a:endParaRPr>
          </a:p>
          <a:p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788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2408FA-590E-BCA1-E530-6B06388F6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46" y="669925"/>
            <a:ext cx="4650862" cy="4812755"/>
          </a:xfrm>
        </p:spPr>
        <p:txBody>
          <a:bodyPr anchor="b">
            <a:normAutofit/>
          </a:bodyPr>
          <a:lstStyle/>
          <a:p>
            <a:pPr algn="r"/>
            <a:r>
              <a:rPr lang="en-US" sz="7200">
                <a:solidFill>
                  <a:schemeClr val="bg1"/>
                </a:solidFill>
              </a:rPr>
              <a:t>Who Benefits 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06" y="5597879"/>
            <a:ext cx="5102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1B55A-2EAD-F47F-4A1B-7B39440AE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0314" y="753042"/>
            <a:ext cx="4562272" cy="51720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🎓 Students (residents &amp; commuters)</a:t>
            </a:r>
            <a:endParaRPr lang="en-US" sz="200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🧑‍🏫 Faculty &amp; staff</a:t>
            </a:r>
            <a:endParaRPr lang="en-US" sz="200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🧍 Visitors</a:t>
            </a:r>
            <a:endParaRPr lang="en-US" sz="200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🏫 University administration</a:t>
            </a:r>
            <a:endParaRPr lang="en-US" sz="200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🌆 Campus community</a:t>
            </a:r>
            <a:endParaRPr lang="en-US" sz="200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56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ars parked in a line">
            <a:extLst>
              <a:ext uri="{FF2B5EF4-FFF2-40B4-BE49-F238E27FC236}">
                <a16:creationId xmlns:a16="http://schemas.microsoft.com/office/drawing/2014/main" id="{3A18B2AC-BA09-81A9-12F9-E7123739A16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6753" r="6763"/>
          <a:stretch>
            <a:fillRect/>
          </a:stretch>
        </p:blipFill>
        <p:spPr>
          <a:xfrm>
            <a:off x="4283902" y="10"/>
            <a:ext cx="7908098" cy="685799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0A95BBA-E741-0C51-B908-F122D67CAB2C}"/>
              </a:ext>
            </a:extLst>
          </p:cNvPr>
          <p:cNvSpPr txBox="1"/>
          <p:nvPr/>
        </p:nvSpPr>
        <p:spPr>
          <a:xfrm>
            <a:off x="130974" y="1717645"/>
            <a:ext cx="6690521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Aptos"/>
                <a:ea typeface="Calibri"/>
                <a:cs typeface="Calibri"/>
              </a:rPr>
              <a:t>Motivation</a:t>
            </a:r>
            <a:br>
              <a:rPr lang="en-US" sz="2400">
                <a:latin typeface="Aptos"/>
                <a:ea typeface="Calibri"/>
                <a:cs typeface="Calibri"/>
              </a:rPr>
            </a:br>
            <a:br>
              <a:rPr lang="en-US" sz="2400">
                <a:latin typeface="Aptos"/>
                <a:ea typeface="Calibri"/>
                <a:cs typeface="Calibri"/>
              </a:rPr>
            </a:br>
            <a:r>
              <a:rPr lang="en-US" sz="2400">
                <a:solidFill>
                  <a:schemeClr val="bg1"/>
                </a:solidFill>
                <a:latin typeface="Aptos"/>
                <a:ea typeface="Calibri"/>
                <a:cs typeface="Calibri"/>
              </a:rPr>
              <a:t>* Real problem experienced by SCSU students</a:t>
            </a:r>
            <a:br>
              <a:rPr lang="en-US" sz="2400">
                <a:latin typeface="Aptos"/>
                <a:ea typeface="Calibri"/>
                <a:cs typeface="Calibri"/>
              </a:rPr>
            </a:br>
            <a:r>
              <a:rPr lang="en-US" sz="2400">
                <a:solidFill>
                  <a:schemeClr val="bg1"/>
                </a:solidFill>
                <a:latin typeface="Aptos"/>
                <a:ea typeface="Calibri"/>
                <a:cs typeface="Calibri"/>
              </a:rPr>
              <a:t>* Supports smart campus initiatives</a:t>
            </a:r>
            <a:br>
              <a:rPr lang="en-US" sz="2400">
                <a:latin typeface="Aptos"/>
                <a:ea typeface="Calibri"/>
                <a:cs typeface="Calibri"/>
              </a:rPr>
            </a:br>
            <a:r>
              <a:rPr lang="en-US" sz="2400">
                <a:solidFill>
                  <a:schemeClr val="bg1"/>
                </a:solidFill>
                <a:latin typeface="Aptos"/>
                <a:ea typeface="Calibri"/>
                <a:cs typeface="Calibri"/>
              </a:rPr>
              <a:t>* Improves efficiency and sustainability</a:t>
            </a:r>
          </a:p>
          <a:p>
            <a:pPr marL="285750" indent="-285750">
              <a:buFont typeface="Arial"/>
              <a:buChar char="•"/>
            </a:pPr>
            <a:endParaRPr lang="en-US" sz="2400">
              <a:solidFill>
                <a:schemeClr val="bg1"/>
              </a:solidFill>
              <a:latin typeface="Apto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400">
              <a:solidFill>
                <a:schemeClr val="bg1"/>
              </a:solidFill>
              <a:latin typeface="Apto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Aptos"/>
                <a:ea typeface="Calibri"/>
                <a:cs typeface="Calibri"/>
              </a:rPr>
              <a:t>Feasibility</a:t>
            </a:r>
            <a:br>
              <a:rPr lang="en-US" sz="2400">
                <a:latin typeface="Aptos"/>
                <a:ea typeface="Calibri"/>
                <a:cs typeface="Calibri"/>
              </a:rPr>
            </a:br>
            <a:endParaRPr lang="en-US" sz="2400">
              <a:solidFill>
                <a:schemeClr val="bg1"/>
              </a:solidFill>
              <a:latin typeface="Aptos"/>
              <a:ea typeface="Calibri"/>
              <a:cs typeface="Calibri"/>
            </a:endParaRPr>
          </a:p>
          <a:p>
            <a:r>
              <a:rPr lang="en-US" sz="2400">
                <a:solidFill>
                  <a:schemeClr val="bg1"/>
                </a:solidFill>
                <a:latin typeface="Aptos"/>
                <a:ea typeface="Calibri"/>
                <a:cs typeface="Calibri"/>
              </a:rPr>
              <a:t> * Web-based platform </a:t>
            </a:r>
            <a:br>
              <a:rPr lang="en-US" sz="2400">
                <a:latin typeface="Aptos"/>
                <a:ea typeface="Calibri"/>
                <a:cs typeface="Calibri"/>
              </a:rPr>
            </a:br>
            <a:r>
              <a:rPr lang="en-US" sz="2400">
                <a:solidFill>
                  <a:schemeClr val="bg1"/>
                </a:solidFill>
                <a:latin typeface="Aptos"/>
                <a:ea typeface="Calibri"/>
                <a:cs typeface="Calibri"/>
              </a:rPr>
              <a:t> * Uses simulated + historical data</a:t>
            </a:r>
            <a:br>
              <a:rPr lang="en-US" sz="2400">
                <a:latin typeface="Aptos"/>
                <a:ea typeface="Calibri"/>
                <a:cs typeface="Calibri"/>
              </a:rPr>
            </a:br>
            <a:r>
              <a:rPr lang="en-US" sz="2400">
                <a:solidFill>
                  <a:schemeClr val="bg1"/>
                </a:solidFill>
                <a:latin typeface="Aptos"/>
                <a:ea typeface="Calibri"/>
                <a:cs typeface="Calibri"/>
              </a:rPr>
              <a:t> * Achievable within course timeline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CDD825-9BB5-89C9-E516-6C4AE8B3E744}"/>
              </a:ext>
            </a:extLst>
          </p:cNvPr>
          <p:cNvSpPr txBox="1"/>
          <p:nvPr/>
        </p:nvSpPr>
        <p:spPr>
          <a:xfrm>
            <a:off x="341352" y="409623"/>
            <a:ext cx="682706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Motivation &amp; Feasibility</a:t>
            </a:r>
          </a:p>
        </p:txBody>
      </p:sp>
    </p:spTree>
    <p:extLst>
      <p:ext uri="{BB962C8B-B14F-4D97-AF65-F5344CB8AC3E}">
        <p14:creationId xmlns:p14="http://schemas.microsoft.com/office/powerpoint/2010/main" val="3487710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0F8A26-2B99-DF77-D187-8977DC46C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Innovation / uniqueness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E66E8-505B-5AF4-CAAC-B570D5A9B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/>
              <a:t>AI driven probability predictions</a:t>
            </a:r>
          </a:p>
          <a:p>
            <a:r>
              <a:rPr lang="en-US"/>
              <a:t>Campus specific solution (SCSU)</a:t>
            </a:r>
          </a:p>
          <a:p>
            <a:r>
              <a:rPr lang="en-US"/>
              <a:t>Data visualization dashboard</a:t>
            </a:r>
          </a:p>
          <a:p>
            <a:r>
              <a:rPr lang="en-US"/>
              <a:t>Smart recommendation for users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23821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Cars and people in the parking lot image - Free stock photo - Public ...">
            <a:extLst>
              <a:ext uri="{FF2B5EF4-FFF2-40B4-BE49-F238E27FC236}">
                <a16:creationId xmlns:a16="http://schemas.microsoft.com/office/drawing/2014/main" id="{41EB4ECD-8C60-CA99-AE29-5FDB116E34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49" r="20008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28D866-0AC7-F7A4-F500-34764C68A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816" y="658333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/>
              <a:t>Expected outcomes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0D7FD958-963D-9D71-DC7A-D46D35A69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072" y="2613709"/>
            <a:ext cx="4659756" cy="3374137"/>
          </a:xfrm>
        </p:spPr>
        <p:txBody>
          <a:bodyPr anchor="ctr">
            <a:normAutofit/>
          </a:bodyPr>
          <a:lstStyle/>
          <a:p>
            <a:r>
              <a:rPr lang="en-US" sz="2400"/>
              <a:t>Functional parking probability dashboard</a:t>
            </a:r>
          </a:p>
          <a:p>
            <a:r>
              <a:rPr lang="en-US" sz="2400"/>
              <a:t>Visual analytics of parking trends</a:t>
            </a:r>
          </a:p>
          <a:p>
            <a:r>
              <a:rPr lang="en-US" sz="2400"/>
              <a:t>Improved user decision-making</a:t>
            </a:r>
          </a:p>
          <a:p>
            <a:r>
              <a:rPr lang="en-US" sz="2400"/>
              <a:t>Scalable smart campus platform concept</a:t>
            </a:r>
          </a:p>
        </p:txBody>
      </p:sp>
    </p:spTree>
    <p:extLst>
      <p:ext uri="{BB962C8B-B14F-4D97-AF65-F5344CB8AC3E}">
        <p14:creationId xmlns:p14="http://schemas.microsoft.com/office/powerpoint/2010/main" val="1254087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58D1BF-C541-75B6-6C53-A562EB4FC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46" y="669925"/>
            <a:ext cx="4650862" cy="4812755"/>
          </a:xfrm>
        </p:spPr>
        <p:txBody>
          <a:bodyPr anchor="b">
            <a:normAutofit/>
          </a:bodyPr>
          <a:lstStyle/>
          <a:p>
            <a:pPr algn="r"/>
            <a:r>
              <a:rPr lang="en-US" sz="7200">
                <a:solidFill>
                  <a:schemeClr val="bg1"/>
                </a:solidFill>
              </a:rPr>
              <a:t>Conclusion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06" y="5597879"/>
            <a:ext cx="5102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FBD23-E155-3392-3000-4AAFAA06A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0314" y="753042"/>
            <a:ext cx="4562272" cy="51720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HuskyPark Predictor reduces parking stress at SCSU using probability-based guidance</a:t>
            </a:r>
            <a:endParaRPr lang="en-US" sz="200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Combines data and visualization to support faster parking decisions</a:t>
            </a:r>
            <a:endParaRPr lang="en-US" sz="200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Stage 1 deliverable: clear scope, feasibility, and team plan for implementation</a:t>
            </a:r>
            <a:endParaRPr lang="en-US" sz="2000">
              <a:solidFill>
                <a:schemeClr val="bg1"/>
              </a:solidFill>
            </a:endParaRPr>
          </a:p>
          <a:p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9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Course: CSCI 414/514 - Platform-Based Development </vt:lpstr>
      <vt:lpstr>Project Overview</vt:lpstr>
      <vt:lpstr>Problem Overview (Parking on Campus) </vt:lpstr>
      <vt:lpstr>Solution: HuskyPark Predictor – Web Dashboard </vt:lpstr>
      <vt:lpstr>Who Benefits ?</vt:lpstr>
      <vt:lpstr>PowerPoint Presentation</vt:lpstr>
      <vt:lpstr>Innovation / uniqueness</vt:lpstr>
      <vt:lpstr>Expected outcomes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9</cp:revision>
  <dcterms:created xsi:type="dcterms:W3CDTF">2026-02-18T16:07:16Z</dcterms:created>
  <dcterms:modified xsi:type="dcterms:W3CDTF">2026-02-19T03:34:06Z</dcterms:modified>
</cp:coreProperties>
</file>